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12914f68442a1" /><Relationship Type="http://schemas.openxmlformats.org/officeDocument/2006/relationships/extended-properties" Target="/docProps/app.xml" Id="R839724a2dea64a9d" /><Relationship Type="http://schemas.openxmlformats.org/officeDocument/2006/relationships/officeDocument" Target="/ppt/presentation.xml" Id="R0ad6cbab5b1b4a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61e92e6068458e"/>
  </p:sldMasterIdLst>
  <p:notesMasterIdLst>
    <p:notesMasterId xmlns:r="http://schemas.openxmlformats.org/officeDocument/2006/relationships" r:id="R4f39094055d24c79"/>
  </p:notesMasterIdLst>
  <p:sldIdLst>
    <p:sldId xmlns:r="http://schemas.openxmlformats.org/officeDocument/2006/relationships" id="256" r:id="Racb1451202c14f08"/>
    <p:sldId xmlns:r="http://schemas.openxmlformats.org/officeDocument/2006/relationships" id="257" r:id="R3b124cce11d345db"/>
    <p:sldId xmlns:r="http://schemas.openxmlformats.org/officeDocument/2006/relationships" id="258" r:id="R318093e03e6f4155"/>
    <p:sldId xmlns:r="http://schemas.openxmlformats.org/officeDocument/2006/relationships" id="259" r:id="R416d3a8769b04643"/>
    <p:sldId xmlns:r="http://schemas.openxmlformats.org/officeDocument/2006/relationships" id="260" r:id="Rbffa5e2261654616"/>
    <p:sldId xmlns:r="http://schemas.openxmlformats.org/officeDocument/2006/relationships" id="261" r:id="Re4225e7c48f349e2"/>
    <p:sldId xmlns:r="http://schemas.openxmlformats.org/officeDocument/2006/relationships" id="262" r:id="R9583711c1d304549"/>
    <p:sldId xmlns:r="http://schemas.openxmlformats.org/officeDocument/2006/relationships" id="263" r:id="R944e55a95cf94afd"/>
    <p:sldId xmlns:r="http://schemas.openxmlformats.org/officeDocument/2006/relationships" id="264" r:id="Rc957d69530c14647"/>
    <p:sldId xmlns:r="http://schemas.openxmlformats.org/officeDocument/2006/relationships" id="265" r:id="R924d580d652249b8"/>
    <p:sldId xmlns:r="http://schemas.openxmlformats.org/officeDocument/2006/relationships" id="266" r:id="R521d723af2e149a2"/>
    <p:sldId xmlns:r="http://schemas.openxmlformats.org/officeDocument/2006/relationships" id="267" r:id="R7486d4a7fcc04ac7"/>
    <p:sldId xmlns:r="http://schemas.openxmlformats.org/officeDocument/2006/relationships" id="268" r:id="R832528ab4db447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ff286d5e3e457c" /><Relationship Type="http://schemas.openxmlformats.org/officeDocument/2006/relationships/slideMaster" Target="/ppt/slideMasters/slideMaster1.xml" Id="Re661e92e6068458e" /><Relationship Type="http://schemas.openxmlformats.org/officeDocument/2006/relationships/notesMaster" Target="/ppt/notesMasters/notesMaster1.xml" Id="R4f39094055d24c79" /><Relationship Type="http://schemas.openxmlformats.org/officeDocument/2006/relationships/presProps" Target="/ppt/presProps.xml" Id="R3c21863456214b37" /><Relationship Type="http://schemas.openxmlformats.org/officeDocument/2006/relationships/tableStyles" Target="/ppt/tableStyles.xml" Id="Rcf44ac2f2ada4d3b" /><Relationship Type="http://schemas.openxmlformats.org/officeDocument/2006/relationships/slide" Target="/ppt/slides/slide1.xml" Id="Racb1451202c14f08" /><Relationship Type="http://schemas.openxmlformats.org/officeDocument/2006/relationships/slide" Target="/ppt/slides/slide2.xml" Id="R3b124cce11d345db" /><Relationship Type="http://schemas.openxmlformats.org/officeDocument/2006/relationships/slide" Target="/ppt/slides/slide3.xml" Id="R318093e03e6f4155" /><Relationship Type="http://schemas.openxmlformats.org/officeDocument/2006/relationships/slide" Target="/ppt/slides/slide4.xml" Id="R416d3a8769b04643" /><Relationship Type="http://schemas.openxmlformats.org/officeDocument/2006/relationships/slide" Target="/ppt/slides/slide5.xml" Id="Rbffa5e2261654616" /><Relationship Type="http://schemas.openxmlformats.org/officeDocument/2006/relationships/slide" Target="/ppt/slides/slide6.xml" Id="Re4225e7c48f349e2" /><Relationship Type="http://schemas.openxmlformats.org/officeDocument/2006/relationships/slide" Target="/ppt/slides/slide7.xml" Id="R9583711c1d304549" /><Relationship Type="http://schemas.openxmlformats.org/officeDocument/2006/relationships/slide" Target="/ppt/slides/slide8.xml" Id="R944e55a95cf94afd" /><Relationship Type="http://schemas.openxmlformats.org/officeDocument/2006/relationships/slide" Target="/ppt/slides/slide9.xml" Id="Rc957d69530c14647" /><Relationship Type="http://schemas.openxmlformats.org/officeDocument/2006/relationships/slide" Target="/ppt/slides/slide10.xml" Id="R924d580d652249b8" /><Relationship Type="http://schemas.openxmlformats.org/officeDocument/2006/relationships/slide" Target="/ppt/slides/slide11.xml" Id="R521d723af2e149a2" /><Relationship Type="http://schemas.openxmlformats.org/officeDocument/2006/relationships/slide" Target="/ppt/slides/slide12.xml" Id="R7486d4a7fcc04ac7" /><Relationship Type="http://schemas.openxmlformats.org/officeDocument/2006/relationships/slide" Target="/ppt/slides/slide13.xml" Id="R832528ab4db4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f22a252a24a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2cebee18464a50" /><Relationship Type="http://schemas.openxmlformats.org/officeDocument/2006/relationships/notesMaster" Target="/ppt/notesMasters/notesMaster1.xml" Id="R6b1e203165fa49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bda34802164128" /><Relationship Type="http://schemas.openxmlformats.org/officeDocument/2006/relationships/notesMaster" Target="/ppt/notesMasters/notesMaster1.xml" Id="Rc949d43c0c04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c7b8292bf840d9" /><Relationship Type="http://schemas.openxmlformats.org/officeDocument/2006/relationships/notesMaster" Target="/ppt/notesMasters/notesMaster1.xml" Id="Rcd3e098f9add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7d0aab6f1c4a0e" /><Relationship Type="http://schemas.openxmlformats.org/officeDocument/2006/relationships/notesMaster" Target="/ppt/notesMasters/notesMaster1.xml" Id="R100f10d2db79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9d666653e48e1" /><Relationship Type="http://schemas.openxmlformats.org/officeDocument/2006/relationships/notesMaster" Target="/ppt/notesMasters/notesMaster1.xml" Id="Rcfe1aaef9c044c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ab2124adac44e0" /><Relationship Type="http://schemas.openxmlformats.org/officeDocument/2006/relationships/notesMaster" Target="/ppt/notesMasters/notesMaster1.xml" Id="R31d0c2a2af134b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1e61ea0634b02" /><Relationship Type="http://schemas.openxmlformats.org/officeDocument/2006/relationships/notesMaster" Target="/ppt/notesMasters/notesMaster1.xml" Id="Ra5a119ce4d2d4b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9488279ecb4c84" /><Relationship Type="http://schemas.openxmlformats.org/officeDocument/2006/relationships/notesMaster" Target="/ppt/notesMasters/notesMaster1.xml" Id="R47e844b71e9b4a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70e6f1708d4289" /><Relationship Type="http://schemas.openxmlformats.org/officeDocument/2006/relationships/notesMaster" Target="/ppt/notesMasters/notesMaster1.xml" Id="R0b713ed1656248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acd2ec6728430e" /><Relationship Type="http://schemas.openxmlformats.org/officeDocument/2006/relationships/notesMaster" Target="/ppt/notesMasters/notesMaster1.xml" Id="R00e23683bd6148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04e03213f649a8" /><Relationship Type="http://schemas.openxmlformats.org/officeDocument/2006/relationships/notesMaster" Target="/ppt/notesMasters/notesMaster1.xml" Id="R981f08f423694f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0cea029dfa4ad6" /><Relationship Type="http://schemas.openxmlformats.org/officeDocument/2006/relationships/notesMaster" Target="/ppt/notesMasters/notesMaster1.xml" Id="Re7139c5d498643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1a61e255104785" /><Relationship Type="http://schemas.openxmlformats.org/officeDocument/2006/relationships/notesMaster" Target="/ppt/notesMasters/notesMaster1.xml" Id="R5ddc43e29424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Служебный слайд по требованиям сдачи. Репозиторий: https://github.com/Xesonar/project-start. Версия исходного кода: 6139c00. Рабочий продукт: https://project-start.plxa.ru. Секреты не публикуются в GitHub.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с проблемы первого реального проекта. Источники: README.md, docs/PITCH.md.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использовать неподтверждённые рыночные числа. Формулировки описывают продуктовую проблему из ТЗ 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открыть главную, карточку проекта, отклик, портфолио. Источники: frontend/src,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 подтверждена кодом backend/app/services/recommendation.py и README.md. LLM не меняет сортировку.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Свежий скриншот снят с локальной production-сборки после исправления рассинхрона процентов.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current build. Процент является общим скором, покрытие навыков подписано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отклика студент может отменить заявку до решения. Организатор отправляет причину решения и персональные сообщения через MAX-бота. Принятый участник получает чат конкретного проекта; выход из команды требует подтверждения организатора.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Админский цикл покрывает создание проекта, роли, сообщения студентам через MAX, отдельный чат команды, обработку запросов на выход и атомарное подтверждение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подтверждена docker-compose.prod.yml, frontend/nginx.conf, backend/docker-entrypoint.sh и backend/app/services.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Проверено локально: backend 98 passed, frontend 9 passed, lint, TypeScript и production build. npm audit: 0 уязвимостей. JS bundle: 270.39 KB, gzip 81.62 KB.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Масштабирование: факультет, университет, несколько вузов региона, межвузовский каталог. Для нового контекста нужны владелец процесса, модерация организаций, справочники, политика данных и интеграция с SSO или источником проектов.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Финал: предложить жюри пройти сценарий от диагностики до отклика, сообщения организатора, чата команды и портфолио. Репозиторий: https://github.com/Xesonar/project-start. Рабочий продукт: https://project-start.plxa.ru.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2001e22c440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9e401b1c704d0b" /><Relationship Type="http://schemas.openxmlformats.org/officeDocument/2006/relationships/slideLayout" Target="/ppt/slideLayouts/slideLayout1.xml" Id="R14a3b96494ad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a3b96494ad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881807a1245d5" /><Relationship Type="http://schemas.openxmlformats.org/officeDocument/2006/relationships/hyperlink" Target="https://github.com/Xesonar/project-start" TargetMode="External" Id="Rd2317570e2cb4a8b" /><Relationship Type="http://schemas.openxmlformats.org/officeDocument/2006/relationships/notesSlide" Target="/ppt/notesSlides/notesSlide1.xml" Id="R7082a5ab8740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215ee23d942c4" /><Relationship Type="http://schemas.openxmlformats.org/officeDocument/2006/relationships/image" Target="/ppt/media/image.png" Id="R58f2706fe1d94da5" /><Relationship Type="http://schemas.openxmlformats.org/officeDocument/2006/relationships/image" Target="/ppt/media/image2.png" Id="Ref639579dce44c87" /><Relationship Type="http://schemas.openxmlformats.org/officeDocument/2006/relationships/notesSlide" Target="/ppt/notesSlides/notesSlide2.xml" Id="R5f42a9a38f1f4b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fbdf462154a01" /><Relationship Type="http://schemas.openxmlformats.org/officeDocument/2006/relationships/notesSlide" Target="/ppt/notesSlides/notesSlide3.xml" Id="R3a455833461545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bf941022645c4" /><Relationship Type="http://schemas.openxmlformats.org/officeDocument/2006/relationships/image" Target="/ppt/media/image3.png" Id="R0890d04e68544181" /><Relationship Type="http://schemas.openxmlformats.org/officeDocument/2006/relationships/notesSlide" Target="/ppt/notesSlides/notesSlide4.xml" Id="Rf11133a375814c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d7345db3d44ad" /><Relationship Type="http://schemas.openxmlformats.org/officeDocument/2006/relationships/notesSlide" Target="/ppt/notesSlides/notesSlide5.xml" Id="R7ca48626d440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b544a2b184dae" /><Relationship Type="http://schemas.openxmlformats.org/officeDocument/2006/relationships/image" Target="/ppt/media/image4.png" Id="R56c0437c42b44c18" /><Relationship Type="http://schemas.openxmlformats.org/officeDocument/2006/relationships/notesSlide" Target="/ppt/notesSlides/notesSlide6.xml" Id="R24d8bdd2d2904e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e33c66f294eba" /><Relationship Type="http://schemas.openxmlformats.org/officeDocument/2006/relationships/image" Target="/ppt/media/image5.png" Id="Rb35b3da44fa64788" /><Relationship Type="http://schemas.openxmlformats.org/officeDocument/2006/relationships/notesSlide" Target="/ppt/notesSlides/notesSlide7.xml" Id="R8d2760d75d724a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7d9116c99425a" /><Relationship Type="http://schemas.openxmlformats.org/officeDocument/2006/relationships/image" Target="/ppt/media/image6.png" Id="R7913210e7e14438a" /><Relationship Type="http://schemas.openxmlformats.org/officeDocument/2006/relationships/notesSlide" Target="/ppt/notesSlides/notesSlide8.xml" Id="Redf691d627194d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19cda2b974d3e" /><Relationship Type="http://schemas.openxmlformats.org/officeDocument/2006/relationships/notesSlide" Target="/ppt/notesSlides/notesSlide9.xml" Id="R8fe67346f9b048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f91d8014641b0" /><Relationship Type="http://schemas.openxmlformats.org/officeDocument/2006/relationships/notesSlide" Target="/ppt/notesSlides/notesSlide10.xml" Id="Rd4f83f7b230944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98301bcd44652" /><Relationship Type="http://schemas.openxmlformats.org/officeDocument/2006/relationships/notesSlide" Target="/ppt/notesSlides/notesSlide11.xml" Id="R8d48d956418d46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947845719463f" /><Relationship Type="http://schemas.openxmlformats.org/officeDocument/2006/relationships/notesSlide" Target="/ppt/notesSlides/notesSlide12.xml" Id="Ra330083cd6ee4a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afcdec37d4a5b" /><Relationship Type="http://schemas.openxmlformats.org/officeDocument/2006/relationships/image" Target="/ppt/media/image7.png" Id="Rd09bf0677c4c4c1c" /><Relationship Type="http://schemas.openxmlformats.org/officeDocument/2006/relationships/hyperlink" Target="https://github.com/Xesonar/project-start" TargetMode="External" Id="R152df90b54bc4da5" /><Relationship Type="http://schemas.openxmlformats.org/officeDocument/2006/relationships/notesSlide" Target="/ppt/notesSlides/notesSlide13.xml" Id="Rc703f426c58e41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CB376-66B6-45AA-BAE4-127029C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B9567-1FB0-4B3A-9207-CF6BAAB6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MAX И ДОСТУП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9D945-7382-4969-A188-E0A01E56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ТЕХ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B849D-A84A-4DEC-AFF4-9AF74905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Техническая информация для проверки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36082-ED54-49CA-8B08-958A088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Продукт доступен по HTTPS. Исходники, API-контракт и Docker-контур зафиксированы в репозитории.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9F92B-6306-4EB3-8E3D-76A57C71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D7C14-E212-4B47-B025-26E8DD8A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Студент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07F79-22FC-42A1-BBE0-63F7088E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79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project-start.plxa.ru · вход через 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4FE2E-B50B-4638-A6ED-43E79608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9530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1F13E-AC74-4B71-8D37-CAD7FA1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Организатор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4CDFD-8F16-439C-9BE3-17EEEE23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480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/admin · пароль передать отдельно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EF4FA-301F-4A36-98E8-12D405E7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9530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F8460-CC2A-4ECE-84D9-8893163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1ADC9-C932-43F4-B5EC-43A347E6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4810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навыки, проект, роль, отклик, портфолио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DDB14-1575-4A5E-8D95-ABA1B87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53911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6FD74-13AF-4972-AA7E-B07AE8F3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Технический доступ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F3B86-25E6-4459-9CE0-F04EF4FB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Репозиторий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ADE87-3923-42F7-A605-30046E4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d2317570e2cb4a8b"/>
              </a:rPr>
              <a:t>github.com/Xesonar/project-start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A611F-D708-4A40-B98E-1AE44D10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Версия кода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86EFB-AD82-4462-915B-21DD374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6139c00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4DE81-264E-40B9-87F2-78FCACD3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MAX Mini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24E8F-4820-4579-A6E0-E2708BC7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project-start.plxa.ru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1DDC6-47B7-47B9-A170-CC0582AC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Публичный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E2F33-D2C3-4BAC-A0D0-EE18F60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project-start.plxa.ru/api/docs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B30A9-18BA-4517-BF37-9EE5C9AE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2213B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29E80-998A-4B36-B8D7-A935E3D9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Перед показом в MAX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10FAF-4B9D-43AC-AE02-E0316ED1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1026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Зарегистрировать webhook, открыть Mini App из MAX и пройти путь студента. Секреты в репозиторий не попадают.</a:t>
            </a:r>
          </a:p>
        </p:txBody>
      </p:sp>
    </p:spTree>
    <p:extLst>
      <p:ext uri="{BB962C8B-B14F-4D97-AF65-F5344CB8AC3E}">
        <p14:creationId xmlns:p14="http://schemas.microsoft.com/office/powerpoint/2010/main" val="1665875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AC91D-83CD-4A28-8E4C-4A7914E7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A42D4-8A69-4756-993E-60EB0FD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F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2706fe1d94da5"/>
          <a:stretch xmlns:a="http://schemas.openxmlformats.org/drawingml/2006/main"/>
        </p:blipFill>
        <p:spPr>
          <a:xfrm xmlns:a="http://schemas.openxmlformats.org/drawingml/2006/main">
            <a:off x="723900" y="628650"/>
            <a:ext cx="762000" cy="762000"/>
          </a:xfrm>
          <a:prstGeom xmlns:a="http://schemas.openxmlformats.org/drawingml/2006/main" prst="roundRect">
            <a:avLst>
              <a:gd name="adj" fmla="val 25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F241A-A9F4-442E-B40B-E6568D94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048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BC68E-0503-4C83-AE39-255C8ADF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Первый проект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для каждого студента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9A24F-8475-4C97-BD9A-10813D98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Подбор проекта, команда и подтверждённый опыт внутри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2380C-522B-440C-9B8F-61A13AEA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0632-BE87-420D-AE77-187D7935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5 вопросов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9C862-F61A-41C1-8D3C-149304D7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62500"/>
            <a:ext cx="1790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36734-FB5C-4317-B618-63D2753F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81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1 лучший проект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B0FD4-086B-4543-98A8-1481733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2076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ED4B3-0D00-44A4-AF96-57498152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0 магии в рейтинге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39579dce44c87"/>
          <a:srcRect xmlns:a="http://schemas.openxmlformats.org/drawingml/2006/main" l="0" t="6711" r="0" b="6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533400"/>
            <a:ext cx="3086100" cy="5791200"/>
          </a:xfrm>
          <a:prstGeom xmlns:a="http://schemas.openxmlformats.org/drawingml/2006/main" prst="roundRect">
            <a:avLst>
              <a:gd name="adj" fmla="val 10494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0DD1D-3DE0-40F2-ACE9-9423F766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"/>
            <a:ext cx="3429000" cy="6134100"/>
          </a:xfrm>
          <a:prstGeom xmlns:a="http://schemas.openxmlformats.org/drawingml/2006/main" prst="roundRect">
            <a:avLst>
              <a:gd name="adj" fmla="val 1166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EA233-BFB5-4CCD-80F2-5B1C4CD8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Хакатон 2026 · образовательные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38828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6B123-D8E5-4EA3-86D1-6DA77D87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2D786-0C20-4F79-B0FA-86C81A81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66624-2B97-4E27-A655-D155BF5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8E3F0-7BD7-4AE2-A2DD-43D13588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Первый проект трудно не сделать. Его трудно найти.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631D1-0ECF-4309-95BD-71A93265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Разрыв возникает ещё до отклика, когда студент не понимает, куда идти и достаточно ли у него навыков.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F08C9-56CE-4A14-A959-FAD4001D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A0A6E-E56F-4D4A-8658-3A497693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Нет единой точки входа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574A1-A92D-40C0-AE21-990C1DF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Проекты разбросаны по чатам, кафедрам и знакомым.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EE8B4-3CAA-4A8D-B990-CC51EF83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048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63019-7AA2-4D2F-8EF9-AE19454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48B65-7329-4865-8CB5-6EBF2282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Требования пугают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CA9A9-1F2C-45C9-8A9A-3A672B5E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48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Студент видит список навыков, но не понимает, насколько уже подходит.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B4AA3-2D2D-4290-8B81-06AD5417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3048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F5C5B-DAFF-498F-BFCE-EEC260C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F8D49-4EFD-4901-B657-AED756F8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Опыт сложно подтвердить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59628-373A-4DE0-A1A3-8F92AC22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Даже завершённый проект не превращается в проверяемое портфолио.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93EEB-63CA-4632-952A-F03E6460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048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9B5A8-5494-4554-A0AD-A961553D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Старт сокращает путь от «не знаю, с чего начать» до первого осмысленного отклика.</a:t>
            </a:r>
          </a:p>
        </p:txBody>
      </p:sp>
    </p:spTree>
    <p:extLst>
      <p:ext uri="{BB962C8B-B14F-4D97-AF65-F5344CB8AC3E}">
        <p14:creationId xmlns:p14="http://schemas.microsoft.com/office/powerpoint/2010/main" val="1289595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63F28-A0EB-491B-A164-90C8272C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4DF68-24E0-41CB-B1D7-87AC9D3F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D7F27-C9EA-4D19-AB56-2045B82C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F7160-B106-446F-A253-32B135D5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Один путь. От диагностики до портфолио.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4406-33CD-494F-ACCA-F1423A18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Mini App ведёт студента по понятному сценарию без отдельной установки.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0d04e68544181"/>
          <a:stretch xmlns:a="http://schemas.openxmlformats.org/drawingml/2006/main"/>
        </p:blipFill>
        <p:spPr>
          <a:xfrm xmlns:a="http://schemas.openxmlformats.org/drawingml/2006/main">
            <a:off x="666750" y="1962150"/>
            <a:ext cx="7048500" cy="42291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C9506-CE11-4944-A574-5C25934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390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ED82B-07A5-4865-AA43-3A088DC3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0275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0A9FE-33DD-444A-B5FE-55E02B7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0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90FDB-11C7-4CFD-9310-3BCC4841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Оценить навыки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B6392-AA6C-40FF-8937-CBBBC128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4792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5 быстрых вопросов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17A91-4F93-4289-A3E3-0BEFB93F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3390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B8207-9DD2-4A4D-9F41-5A30B60D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60E98-A7F1-40F3-9CD2-A76E15BB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53C0B-BC6B-437B-AF88-42FB2A75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27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Получить подбор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16AEC-A149-4643-B818-2DCABE9F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с объяснением причин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77F75-295C-42F8-ABBF-879FD91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390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5BF2E-011D-4EEF-A1CA-0C2AC466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00525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4C809-31DC-4ED3-8AB2-BEADFE5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00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BDB31-BB59-4A20-A2E1-5DBB01A9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529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Откликнуться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0030-1F56-49C2-BBBE-8D2411E5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481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на конкретную роль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72DC4-583E-4B98-B611-7D3B3086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3390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CB547-0862-4B30-82FC-9AABDE77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0065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5E4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F3882-0AD8-489C-ACB7-F1E8DB83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00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4B4A5-05AF-45D2-8882-2771D2B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530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Подтвердить опыт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BB162-D547-4477-990C-8A626E1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48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через организатора</a:t>
            </a:r>
          </a:p>
        </p:txBody>
      </p:sp>
    </p:spTree>
    <p:extLst>
      <p:ext uri="{BB962C8B-B14F-4D97-AF65-F5344CB8AC3E}">
        <p14:creationId xmlns:p14="http://schemas.microsoft.com/office/powerpoint/2010/main" val="126476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67B87-0396-438A-AFDD-E48A446F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71189-40C9-40AE-87DB-0572086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РЕКОМЕНДАЦИИ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219A6-73DA-4128-A6AC-1E36247C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872C3-36E5-4133-809B-7DF0D051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AI объясняет. Рейтинг считает прозрачная формула.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F74DE-85B5-46FD-8DFB-3D44E1D1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Порядок проектов не зависит от фантазии модели и работает даже без внешнего AI-сервиса.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3787C-8701-406C-8AA0-053F045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Навыки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10959-AC2D-4622-BA43-91399702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556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46A2A-34A2-4998-8617-B5E886E6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556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4C2E-FAC2-4738-A5E4-CC64D073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193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4F6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F63F3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988EF-D8D1-450E-B866-AF91A780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F276-4A65-4ABA-AC25-3D0476B6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556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16235-B11E-48F5-B4C0-9A8BD68E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3476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FB4F2-D4A0-4396-ABC5-B0EF455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37174-CF1C-45C9-B032-6BD568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Направление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76636-3EA1-4426-A4F8-92D1136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29050"/>
            <a:ext cx="556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A3923-CD2E-425A-AD7C-9DBC164C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2905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8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7E5CD-43E7-4135-90B6-0940CE96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814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87DE9-7375-42EC-93C3-06F2AA58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Уровень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EA2C3-A5A9-47A3-909E-93CAD942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10100"/>
            <a:ext cx="556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3CAA1-C0B0-447F-9742-FF235126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10100"/>
            <a:ext cx="20859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B2E11-6A90-401D-8790-3944053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624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D8F69-25CF-4554-BDEC-63C00B5B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1962150" cy="25336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68055-B32D-4B95-94B0-6B90C109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57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LLM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80D36-4DED-4B02-8990-17D8A56B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48000"/>
            <a:ext cx="142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только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объясняет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484CE-D13A-44ED-94BB-D0D86ECB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576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Не меняет порядок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C62F0-2C5C-4ED3-BC74-8695CAA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6870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D18F9-8C1E-42CE-B61B-11848B0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Если AI недоступен, студент всё равно получает тот же список проектов и понятный fallback-текст.</a:t>
            </a:r>
          </a:p>
        </p:txBody>
      </p:sp>
    </p:spTree>
    <p:extLst>
      <p:ext uri="{BB962C8B-B14F-4D97-AF65-F5344CB8AC3E}">
        <p14:creationId xmlns:p14="http://schemas.microsoft.com/office/powerpoint/2010/main" val="1663691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1BCB5-1678-41F9-BE25-2F058C47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015B0-096A-43ED-8887-2F51B0F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ДЕМО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D9155-E590-482D-81B2-10149CC3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6B0BF-E32A-474F-91EB-2C5DD303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На главной сразу видно, почему проект подходит.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85826-C6C2-40CF-8A27-2820A228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Единый процент совпадения приходит с backend и одинаков на карточке и в деталях.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EAE5E-DD5C-4B28-A3A2-958030F1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333750" cy="4457700"/>
          </a:xfrm>
          <a:prstGeom xmlns:a="http://schemas.openxmlformats.org/drawingml/2006/main" prst="roundRect">
            <a:avLst>
              <a:gd name="adj" fmla="val 9714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0437c42b44c18"/>
          <a:srcRect xmlns:a="http://schemas.openxmlformats.org/drawingml/2006/main" l="0" t="18371" r="0" b="183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171700"/>
            <a:ext cx="3028950" cy="4152900"/>
          </a:xfrm>
          <a:prstGeom xmlns:a="http://schemas.openxmlformats.org/drawingml/2006/main" prst="roundRect">
            <a:avLst>
              <a:gd name="adj" fmla="val 81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9B62C-CFF0-4A94-90FE-8E0FF69A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59%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E8381-426A-4608-8DC5-CAB5305B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лучшее совпадение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E4251-DF59-4CCC-897C-2DEE344C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624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8EE93-78D0-4ECD-B116-B672F3E2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33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FEED5-0F19-432D-87D9-24E643E7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67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Роль совпадает с профилем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E8139-0E11-4405-AF00-6E830C34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57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1EBD0-87A1-4ED6-B0DE-E45943A6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291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4DF65-FA43-4D71-8059-BA41536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62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17 из 40 баллов за навыки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772AB-B75C-418B-9599-F29C1BC9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530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2137B-9105-46BA-83C9-2FF57706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24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290BE-A1ED-4670-BB53-C31DABA0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10 из 20 за направление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4DFB-8C74-400A-A1BF-0B8F68DB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483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F3BC9-E019-4165-B076-A4538B19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19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445AD-AC4B-450C-A256-16398903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53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8 из 15 за уровень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8D4A7-FF61-4446-AA2B-0D158944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055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Не «тебе подходит». А конкретно почему.</a:t>
            </a:r>
          </a:p>
        </p:txBody>
      </p:sp>
    </p:spTree>
    <p:extLst>
      <p:ext uri="{BB962C8B-B14F-4D97-AF65-F5344CB8AC3E}">
        <p14:creationId xmlns:p14="http://schemas.microsoft.com/office/powerpoint/2010/main" val="1199932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9D9AC-EDE8-4D31-8A19-38D6B4FD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3589B-570D-4C91-87DE-A039FAF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ДЕМО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31091-9BAF-4725-B212-89C9CC20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6CC5-B4ED-4E65-A8B9-0468DDCA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Гэп навыков превращается в следующий шаг.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CC5F0-0A27-4BA6-A991-EEFA9D70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Вместо отказа студент видит, что уже умеет и что можно быстро подтянуть.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B0EE4-E07B-4C88-88FE-868A72FC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333750" cy="4457700"/>
          </a:xfrm>
          <a:prstGeom xmlns:a="http://schemas.openxmlformats.org/drawingml/2006/main" prst="roundRect">
            <a:avLst>
              <a:gd name="adj" fmla="val 9714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b3da44fa64788"/>
          <a:srcRect xmlns:a="http://schemas.openxmlformats.org/drawingml/2006/main" l="0" t="18371" r="0" b="183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152650"/>
            <a:ext cx="3028950" cy="4152900"/>
          </a:xfrm>
          <a:prstGeom xmlns:a="http://schemas.openxmlformats.org/drawingml/2006/main" prst="roundRect">
            <a:avLst>
              <a:gd name="adj" fmla="val 81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021BB-7522-4CC7-B9E8-549A4522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28850"/>
            <a:ext cx="6115050" cy="11811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0F42E-35AE-46EF-909F-2EE8F52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38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43%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B0044-C042-4F4E-9981-95494AA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общее совпадение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CEEAF-FA85-4FB6-8B08-70393C26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Навыки: 2 из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2E0EE-16D6-4D44-8676-88738263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90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Что подтянуть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37250-A942-4657-BFBD-CE579278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05300"/>
            <a:ext cx="2400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AA05B-88E5-4528-A9D2-FBC8894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24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REST API · начальный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7E934-91FE-43F0-901B-91942327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590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1D22B-AA50-4E54-BB2C-1AA8A0B1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243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UI-дизайн · начальный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00059-FE00-4713-8F85-F4BD3B1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9650"/>
            <a:ext cx="1866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E911B-D911-4DE3-A98E-526A1F54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387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SQL · начальный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F7287-A032-4FC9-9048-B6AEF6B7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05450"/>
            <a:ext cx="6115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Следом студент выбирает роль со свободным слотом и отправляет отклик одной кнопкой.</a:t>
            </a:r>
          </a:p>
        </p:txBody>
      </p:sp>
    </p:spTree>
    <p:extLst>
      <p:ext uri="{BB962C8B-B14F-4D97-AF65-F5344CB8AC3E}">
        <p14:creationId xmlns:p14="http://schemas.microsoft.com/office/powerpoint/2010/main" val="569270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92CF7-D478-4C4C-A30C-8597615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34FDF-73DC-4CD9-9082-3433285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3FE94-7227-4CF8-A813-8FB94459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53474-44F7-4838-895E-FFF3A62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Отклик становится командой. Команда становится опытом.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114EB-84FB-427A-8B23-FC11365A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Организатор подтверждает участие, поэтому портфолио нельзя нарисовать самому.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DF54B-B481-4C3C-8823-A5328A5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6482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E0237-19F1-4C97-A868-FE9344F4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5720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24A06-6E20-42F7-A2B1-8DC45158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B675E-9C5E-4CEB-B1A1-401912F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38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Отклик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4EA1A-ED75-4EE5-9DB8-76806C41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527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сообщение и отмена до решения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4EFC0-E6B3-4C5B-B2E7-3B40BD54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6482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CEAB4-8367-4FD0-9F57-19205325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45720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80D1E-8A59-475D-8933-D538DF83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34A16-1CCB-4527-977C-8FA26E77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05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309E3-C5CC-47E0-B2F2-144209DE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195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решение, MAX-чат и связь с организатором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73B2B-1773-4A13-9A52-4110CD30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6482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2ACD8-0487-416D-B5D3-3C24D10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45720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F65D8-D024-4832-9561-8C5CD9D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5F056-D86D-4674-9D43-89A8BF7E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72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Опыт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DA63D-8A6B-49DA-8A2A-FE353E90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863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выход согласуется, вклад подтверждается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1BFC9-F32F-4BA2-B8F2-CD3F562C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476750" cy="3638550"/>
          </a:xfrm>
          <a:prstGeom xmlns:a="http://schemas.openxmlformats.org/drawingml/2006/main" prst="roundRect">
            <a:avLst>
              <a:gd name="adj" fmla="val 733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3210e7e14438a"/>
          <a:srcRect xmlns:a="http://schemas.openxmlformats.org/drawingml/2006/main" l="0" t="31805" r="0" b="31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324100"/>
            <a:ext cx="4057650" cy="3200400"/>
          </a:xfrm>
          <a:prstGeom xmlns:a="http://schemas.openxmlformats.org/drawingml/2006/main" prst="roundRect">
            <a:avLst>
              <a:gd name="adj" fmla="val 595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1E97B-D2E7-4772-9203-4E99337B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Публичная ссылка показывает только подтверждённый опыт, без контактов и личных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857339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087290-FCF6-41AC-B45D-D145CAFC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1458C-3094-41F2-8E40-5351CE21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ОРГАНИЗАТОР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326CE-9C21-40C0-A245-3D42D18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EC9B8-BF3B-443A-9357-8727FA3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Организатор управляет проектом, а не таблицей заявок.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CADCA-1A83-4B52-B622-C3D98452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В MVP есть полный цикл от публикации ролей до подтверждения результата.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46D2F-2FDA-4D99-A49B-E2B7E1B4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D1CC1-41E8-4310-83B7-346DE0C5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D6D9D-2E5F-47C3-B60B-1EDC87CC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28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Создать проект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5A233-2242-4D05-9B7E-0B2A4E6A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1457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описание, сложность, формат, сроки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EC078-EC63-40CA-BD7E-314C529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38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3E5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E9985-A334-477D-8E68-2E891F3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7105D-9A0D-46FD-BC80-FE9514E1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5036D-412D-4B23-8053-161C223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717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Настроить роли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59AB9-46DA-4AAC-9B8D-9E12BC3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575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слоты и требования по навыкам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FFAE5-5BD0-4E36-AAC6-8184B3D1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8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3E5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EEA11-A430-4A13-BBBB-403826DB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92714-2E04-477D-8F10-100E1C6C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05AF5-3E58-4EE7-8DEE-E40158E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14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Рассмотреть отклики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5AFDB-5D9D-4991-970B-594EC867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0047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причина решения и сообщение через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AAE1C-4C52-4EC5-ACC5-47106982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38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3E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0D0D1-4B8B-4AD2-B36B-3B521CD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91DA2-5628-44B2-BF0E-C3AB75C8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F9A86-73FA-4DAC-AF97-40B8FCD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576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Собрать команду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7D09F-0579-4F19-AE9D-BEBB563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434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чат проекта и запросы на выход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5410D-5B56-4354-8488-88BAFBC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38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3E5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D3A9B-F8E9-4F96-89E2-5D4FD39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55E4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6ADAA-BC20-4A9B-B76E-6435AE39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08DE6-E58A-4A3A-8309-EC5C0F9F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Завершить проект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E53EE-E17B-4312-854C-62A0021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8637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атомарное подтверждение вкладов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D32BD-B7D6-41D9-A1F2-8DD737DC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4438650" cy="3009900"/>
          </a:xfrm>
          <a:prstGeom xmlns:a="http://schemas.openxmlformats.org/drawingml/2006/main" prst="roundRect">
            <a:avLst>
              <a:gd name="adj" fmla="val 8228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8B6AD-C184-4999-B5E1-8548EAE6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Что видит админ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81854-0E49-4E32-97C5-E088680A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Диагностики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1E1ACD-EBFF-4A78-B4D7-F4008FB6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A5F317-A3E9-4009-BB63-4BFE3659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04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Отклики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11D9C-435C-42DC-9232-9F5528E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0425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EC3869-54BC-440E-905E-07C3DCC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Сообщения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7ADBF0-C57E-4581-8F4F-FB19223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D75253-06EB-4425-A9C2-37398B75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95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Команды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7C863A-3193-46F7-8A83-AC30F5E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9575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99F751-163F-42A8-87AB-DBCE425A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Портфолио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D11BCD-DE8D-4796-A590-0F206D95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DEECB8-FC6C-493F-BEAB-7944DC2C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48300"/>
            <a:ext cx="4438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Главная метрика пилота: доля студентов, дошедших от диагностики до первого отклика.</a:t>
            </a:r>
          </a:p>
        </p:txBody>
      </p:sp>
    </p:spTree>
    <p:extLst>
      <p:ext uri="{BB962C8B-B14F-4D97-AF65-F5344CB8AC3E}">
        <p14:creationId xmlns:p14="http://schemas.microsoft.com/office/powerpoint/2010/main" val="1326250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63517-47A3-4CF1-A3B2-B12C8E4B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A1A28-E1F9-40D1-A0B6-FA625C0C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959AD-2886-48D5-B380-F25E4FD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14C10-D160-4B7F-A7FD-FD049CD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Рекомендации остаются рабочими даже без LLM.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54E09-501C-436D-A5CB-A7F72FF4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Критический путь отделён от необязательного генератора объяснений.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F68A4-44D8-4643-B63E-0E83CAD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8288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17690-AE2E-4541-B0D5-E970B13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MAX Mini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CB8A4-D7EC-4B43-B2CC-38DE78F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8288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93034-646C-4E19-A262-616573DE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MAX 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8AE7A-7934-4D20-85FE-B6C5A15D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19075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CD112-9729-456D-8293-5DC58695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813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24E84-ED28-4A26-9BAB-E0DDB64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3377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JWT · initData · webhook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1D85E-62A3-4161-A917-47D55E1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22860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8860C-F8FF-4589-82D2-BBFC2CD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Скоринг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3FB90-FE61-445A-B547-C645232D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детерминированный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5CE52-5253-4490-A9B2-35BEE410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22860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D2E42-1727-407C-9DA9-E4D3912D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C97C8-B245-4F15-98E5-491020D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только объяснение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C1314-04EE-4D56-9CD9-EF9683C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96215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D690D-4682-4823-A3B4-9645D82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PostgreSQL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FEE8B-CF7C-46B3-A1BF-ABF00046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337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Alembic · seed</a:t>
            </a:r>
          </a:p>
        </p:txBody>
      </p:sp>
      <p:cxnSp>
        <p:nvCxnSpPr>
          <p:cNvPr id="153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52700" y="2790825"/>
            <a:ext cx="8382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8BB8FF"/>
            </a:solidFill>
          </a:ln>
        </p:spPr>
      </p:cxnSp>
      <p:cxnSp>
        <p:nvCxnSpPr>
          <p:cNvPr id="15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552700" y="3505200"/>
            <a:ext cx="83820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8BB8FF"/>
            </a:solidFill>
          </a:ln>
        </p:spPr>
      </p:cxnSp>
      <p:cxnSp>
        <p:nvCxnSpPr>
          <p:cNvPr id="15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5581650" y="2743200"/>
            <a:ext cx="8001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F63F3"/>
            </a:solidFill>
          </a:ln>
        </p:spPr>
      </p:cxnSp>
      <p:cxnSp>
        <p:nvCxnSpPr>
          <p:cNvPr id="156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524750" y="320040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dash"/>
          </a:ln>
        </p:spPr>
      </p:cxnSp>
      <p:cxnSp>
        <p:nvCxnSpPr>
          <p:cNvPr id="157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581650" y="3505200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D399"/>
            </a:solidFill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34D4D-50F0-4489-9256-3E0FFA5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Nginx даёт один web-вход. Контейнер backend сам применяет миграции и идемпотентный seed.</a:t>
            </a:r>
          </a:p>
        </p:txBody>
      </p:sp>
    </p:spTree>
    <p:extLst>
      <p:ext uri="{BB962C8B-B14F-4D97-AF65-F5344CB8AC3E}">
        <p14:creationId xmlns:p14="http://schemas.microsoft.com/office/powerpoint/2010/main" val="5447964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0AFDC-40B7-42C9-87CD-3D429FD5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B8B68-4EF5-4CE5-BC98-17EE801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48FE1-9A8E-431B-A179-8B92CA78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9F3F3-B3FA-4903-91F8-411F9218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Это не макет. Контур собирается и проверяется автоматически.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8B255-F4CF-4C31-B00E-B97E3E7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Публичный репозиторий проверяется GitHub Actions при каждом push.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D659B-9FA9-4700-A38D-825DF543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D4064-7AD6-4B4E-A2D0-92AEFBC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backend тестов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F2AE5-2F37-43F9-8EB1-752B079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51277-FAB2-49F5-90A1-6D31FEF4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EC70A-9400-4A99-B740-C69517B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frontend тестов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D2774-60B8-431C-883D-5C9C7B9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3730C-7818-4245-BA9D-789C2823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37DCC-07CA-487C-8395-8D1F9F5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уязвимостей npm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13F24-6D4E-4BD4-A7C5-9EADD158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CE48E-1C50-4529-A1C0-C64A8FA0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81,6 КБ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0041F-5718-436A-B2DD-3A35A5AA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gzip JS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7B0C5-BA70-46C5-B7F6-9D88265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76971-5260-450C-A3E7-1C8BB0A7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EED2D-F801-4E8C-AB7B-61A1E49C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C4654-367B-411C-84A5-C9D4F912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B8392-E3AD-4F7A-97E9-934947FD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Docker Compose: database, backend и frontend healthy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1A590-AF5D-4C05-9DED-D3383A69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E437C-4239-455E-9CA0-FBF7172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35772-7B52-4CE5-B7B3-F0BFAB3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OpenAPI и DATA-API зафиксированы в репозитории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73649-4861-48B0-9B2F-6D3285A9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8138F-A328-42A6-9144-C2BB648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C3C3E-751A-4181-BF42-AA393BF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Production без секретов не стартует молча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56BCE-D347-445D-9944-CA14ED76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196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C2352-EA1A-4796-AF40-7B16E670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96EC6-6FBA-4FF2-8957-0F5E4E5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Ошибки AI не ломают выдачу рекомендаций</a:t>
            </a:r>
          </a:p>
        </p:txBody>
      </p:sp>
    </p:spTree>
    <p:extLst>
      <p:ext uri="{BB962C8B-B14F-4D97-AF65-F5344CB8AC3E}">
        <p14:creationId xmlns:p14="http://schemas.microsoft.com/office/powerpoint/2010/main" val="347097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0AFDC-40B7-42C9-87CD-3D429FD5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B8B68-4EF5-4CE5-BC98-17EE801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МАСШТАБИРОВАНИЕ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48FE1-9A8E-431B-A179-8B92CA78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9F3F3-B3FA-4903-91F8-411F9218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Путь масштабирования начинается с одного факультета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8B255-F4CF-4C31-B00E-B97E3E7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Ядро продукта сохраняется, а справочники и интеграции адаптируются под вуз.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D659B-9FA9-4700-A38D-825DF543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D4064-7AD6-4B4E-A2D0-92AEFBC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факультет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F2AE5-2F37-43F9-8EB1-752B079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51277-FAB2-49F5-90A1-6D31FEF4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EC70A-9400-4A99-B740-C69517B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университет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D2774-60B8-431C-883D-5C9C7B9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3730C-7818-4245-BA9D-789C2823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37DCC-07CA-487C-8395-8D1F9F5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вуза региона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13F24-6D4E-4BD4-A7C5-9EADD158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CE48E-1C50-4529-A1C0-C64A8FA0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0041F-5718-436A-B2DD-3A35A5AA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межвузовский каталог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7B0C5-BA70-46C5-B7F6-9D88265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1543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76971-5260-450C-A3E7-1C8BB0A7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EED2D-F801-4E8C-AB7B-61A1E49C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C4654-367B-411C-84A5-C9D4F912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B8392-E3AD-4F7A-97E9-934947FD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Единое ядро: профиль, скоринг, роли и портфолио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1A590-AF5D-4C05-9DED-D3383A69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E437C-4239-455E-9CA0-FBF7172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35772-7B52-4CE5-B7B3-F0BFAB3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Адаптация: справочники, SSO и импорт проектов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73649-4861-48B0-9B2F-6D3285A9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8138F-A328-42A6-9144-C2BB648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C3C3E-751A-4181-BF42-AA393BF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Ресурсы: владелец процесса и модератор организаций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56BCE-D347-445D-9944-CA14ED76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196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C2352-EA1A-4796-AF40-7B16E670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96EC6-6FBA-4FF2-8957-0F5E4E5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Риск: правила хранения данных различаются по вузам</a:t>
            </a:r>
          </a:p>
        </p:txBody>
      </p:sp>
    </p:spTree>
    <p:extLst>
      <p:ext uri="{BB962C8B-B14F-4D97-AF65-F5344CB8AC3E}">
        <p14:creationId xmlns:p14="http://schemas.microsoft.com/office/powerpoint/2010/main" val="3470978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4E0E4-43DE-4CAB-8E3D-2A1486E0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bf0677c4c4c1c"/>
          <a:stretch xmlns:a="http://schemas.openxmlformats.org/drawingml/2006/main"/>
        </p:blipFill>
        <p:spPr>
          <a:xfrm xmlns:a="http://schemas.openxmlformats.org/drawingml/2006/main">
            <a:off x="762000" y="685800"/>
            <a:ext cx="704850" cy="704850"/>
          </a:xfrm>
          <a:prstGeom xmlns:a="http://schemas.openxmlformats.org/drawingml/2006/main" prst="roundRect">
            <a:avLst>
              <a:gd name="adj" fmla="val 24324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2A40D-1085-4B89-888E-C33F3E4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81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89584-ACBF-4B21-B726-91DE5720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Первый проект должен быть</a:t>
            </a:r>
          </a:p>
          <a:p xmlns:a="http://schemas.openxmlformats.org/drawingml/2006/main">
            <a:pPr algn="l">
              <a:buNone/>
              <a:defRPr sz="33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понятным, а не страшным.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EACB1-E095-4E56-BB0A-0BEB0850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rPr>
              <a:t>Пилот для проектного офиса вуза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EEA74-6EFB-4032-BCD1-7F76BE6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D9817-611A-4672-A0DB-95E799C7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F4244-2944-43E1-B5D4-24C353AD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выдать доступ студентам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3D7C8-AF22-45B5-A3BF-9B10E90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3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AC671-3EC5-401D-877B-9CA91CD9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A5C32-9407-4A1A-9B27-05005AE8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измерить диагностику и первый отклик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8DBEF-2315-487A-A1B2-D837C76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BA24E-F494-498C-90E6-6F478E7A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C7F9C-84B3-4357-8607-BB6FF32C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подтвердить завершённые проекты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403EC-2F0D-4D2C-A091-D2DFA3C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3810000" cy="3733800"/>
          </a:xfrm>
          <a:prstGeom xmlns:a="http://schemas.openxmlformats.org/drawingml/2006/main" prst="roundRect">
            <a:avLst>
              <a:gd name="adj" fmla="val 7653"/>
            </a:avLst>
          </a:prstGeom>
          <a:solidFill xmlns:a="http://schemas.openxmlformats.org/drawingml/2006/main">
            <a:srgbClr val="1A2450"/>
          </a:solidFill>
          <a:ln xmlns:a="http://schemas.openxmlformats.org/drawingml/2006/main" w="14288">
            <a:solidFill>
              <a:srgbClr val="2E3E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D4363-06AB-44A7-92C0-B78C9727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Сценарий показа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E1981-5EEF-4901-AAAD-B76B77A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19400"/>
            <a:ext cx="2933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1. Оценить навыки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2. Открыть лучший матч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3. Выбрать роль и откликнуться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4. Получить сообщение и чат в MAX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5. Показать портфолио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67176-7FBF-42E1-8B53-8724F9B2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101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BB8FF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152df90b54bc4da5"/>
              </a:rPr>
              <a:t>github.com/Xesonar/project-start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39122-9435-49CE-B13A-ABE0C330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Xesonar · 2026</a:t>
            </a:r>
          </a:p>
        </p:txBody>
      </p:sp>
    </p:spTree>
    <p:extLst>
      <p:ext uri="{BB962C8B-B14F-4D97-AF65-F5344CB8AC3E}">
        <p14:creationId xmlns:p14="http://schemas.microsoft.com/office/powerpoint/2010/main" val="446300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PowerPoint</ap:Application>
  <ap:PresentationFormat>On-screen Show (16:9)</ap:PresentationFormat>
  <ap:Slides>13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Xesonar</dc:creator>
  <lastModifiedBy>Xesonar</lastModifiedBy>
  <dc:title>Старт — образовательная платформа</dc:title>
  <dcterms:created xsi:type="dcterms:W3CDTF">2026-09-27T07:09:19.3640000Z</dcterms:created>
  <dcterms:modified xsi:type="dcterms:W3CDTF">2026-09-27T07:09:19.3640000Z</dcterms:modified>
</coreProperties>
</file>